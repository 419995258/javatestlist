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3"/>
    <p:sldId id="259" r:id="rId4"/>
    <p:sldId id="260" r:id="rId5"/>
    <p:sldId id="267" r:id="rId6"/>
    <p:sldId id="264" r:id="rId7"/>
    <p:sldId id="268" r:id="rId8"/>
    <p:sldId id="261" r:id="rId9"/>
    <p:sldId id="262" r:id="rId10"/>
    <p:sldId id="263" r:id="rId11"/>
    <p:sldId id="266" r:id="rId12"/>
    <p:sldId id="274" r:id="rId13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notesMaster" Target="notesMasters/notesMaster1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1584" y="1279287"/>
            <a:ext cx="6140577" cy="345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375" y="4925254"/>
            <a:ext cx="5682996" cy="40297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9013" y="777602"/>
            <a:ext cx="11914356" cy="4571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9013" y="777602"/>
            <a:ext cx="11914356" cy="4571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2063750" y="1990725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1" name="图片占位符 9"/>
          <p:cNvSpPr>
            <a:spLocks noGrp="1"/>
          </p:cNvSpPr>
          <p:nvPr>
            <p:ph type="pic" sz="quarter" idx="11"/>
          </p:nvPr>
        </p:nvSpPr>
        <p:spPr>
          <a:xfrm>
            <a:off x="2063750" y="3568672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2" name="图片占位符 9"/>
          <p:cNvSpPr>
            <a:spLocks noGrp="1"/>
          </p:cNvSpPr>
          <p:nvPr>
            <p:ph type="pic" sz="quarter" idx="12"/>
          </p:nvPr>
        </p:nvSpPr>
        <p:spPr>
          <a:xfrm>
            <a:off x="3876366" y="1990725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3" name="图片占位符 9"/>
          <p:cNvSpPr>
            <a:spLocks noGrp="1"/>
          </p:cNvSpPr>
          <p:nvPr>
            <p:ph type="pic" sz="quarter" idx="13"/>
          </p:nvPr>
        </p:nvSpPr>
        <p:spPr>
          <a:xfrm>
            <a:off x="3876366" y="3568672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4" name="图片占位符 9"/>
          <p:cNvSpPr>
            <a:spLocks noGrp="1"/>
          </p:cNvSpPr>
          <p:nvPr>
            <p:ph type="pic" sz="quarter" idx="14"/>
          </p:nvPr>
        </p:nvSpPr>
        <p:spPr>
          <a:xfrm>
            <a:off x="5688982" y="1990725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5" name="图片占位符 9"/>
          <p:cNvSpPr>
            <a:spLocks noGrp="1"/>
          </p:cNvSpPr>
          <p:nvPr>
            <p:ph type="pic" sz="quarter" idx="15"/>
          </p:nvPr>
        </p:nvSpPr>
        <p:spPr>
          <a:xfrm>
            <a:off x="5688982" y="3568672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6" name="图片占位符 9"/>
          <p:cNvSpPr>
            <a:spLocks noGrp="1"/>
          </p:cNvSpPr>
          <p:nvPr>
            <p:ph type="pic" sz="quarter" idx="16"/>
          </p:nvPr>
        </p:nvSpPr>
        <p:spPr>
          <a:xfrm>
            <a:off x="7501598" y="1990725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7" name="图片占位符 9"/>
          <p:cNvSpPr>
            <a:spLocks noGrp="1"/>
          </p:cNvSpPr>
          <p:nvPr>
            <p:ph type="pic" sz="quarter" idx="17"/>
          </p:nvPr>
        </p:nvSpPr>
        <p:spPr>
          <a:xfrm>
            <a:off x="7501598" y="3568672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2F288E0-7875-42C4-84C8-98DBBD3BF4D2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D9BB5D0-35E4-459D-AEF3-FE4D7C45CC1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5" Type="http://schemas.openxmlformats.org/officeDocument/2006/relationships/image" Target="../media/image5.png"/><Relationship Id="rId14" Type="http://schemas.openxmlformats.org/officeDocument/2006/relationships/image" Target="../media/image4.png"/><Relationship Id="rId13" Type="http://schemas.openxmlformats.org/officeDocument/2006/relationships/image" Target="../media/image3.png"/><Relationship Id="rId12" Type="http://schemas.openxmlformats.org/officeDocument/2006/relationships/image" Target="../media/image2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 userDrawn="1"/>
        </p:nvPicPr>
        <p:blipFill rotWithShape="1">
          <a:blip r:embed="rId12" cstate="print">
            <a:alphaModFix amt="30000"/>
          </a:blip>
          <a:srcRect/>
          <a:stretch>
            <a:fillRect/>
          </a:stretch>
        </p:blipFill>
        <p:spPr>
          <a:xfrm>
            <a:off x="0" y="887747"/>
            <a:ext cx="12192000" cy="5970253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13" cstate="print"/>
          <a:stretch>
            <a:fillRect/>
          </a:stretch>
        </p:blipFill>
        <p:spPr>
          <a:xfrm>
            <a:off x="846816" y="6443823"/>
            <a:ext cx="1710680" cy="240786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 userDrawn="1"/>
        </p:nvPicPr>
        <p:blipFill>
          <a:blip r:embed="rId14" cstate="print"/>
          <a:stretch>
            <a:fillRect/>
          </a:stretch>
        </p:blipFill>
        <p:spPr>
          <a:xfrm>
            <a:off x="10968559" y="6369529"/>
            <a:ext cx="973069" cy="389373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1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26.png"/><Relationship Id="rId8" Type="http://schemas.openxmlformats.org/officeDocument/2006/relationships/image" Target="../media/image25.png"/><Relationship Id="rId7" Type="http://schemas.openxmlformats.org/officeDocument/2006/relationships/image" Target="../media/image24.png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1" Type="http://schemas.openxmlformats.org/officeDocument/2006/relationships/slideLayout" Target="../slideLayouts/slideLayout11.xml"/><Relationship Id="rId10" Type="http://schemas.openxmlformats.org/officeDocument/2006/relationships/image" Target="../media/image27.png"/><Relationship Id="rId1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tags" Target="../tags/tag1.xml"/></Relationships>
</file>

<file path=ppt/slides/_rels/slide10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6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1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SSD</a:t>
            </a:r>
            <a:r>
              <a:rPr lang="zh-CN" altLang="en-US"/>
              <a:t>固态硬盘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1402080" y="1096645"/>
            <a:ext cx="9201785" cy="1353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latin typeface="+mj-ea"/>
                <a:ea typeface="+mj-ea"/>
              </a:rPr>
              <a:t>什么是固态硬盘？</a:t>
            </a:r>
            <a:endParaRPr lang="zh-CN" altLang="en-US"/>
          </a:p>
          <a:p>
            <a:r>
              <a:rPr lang="en-US" altLang="zh-CN"/>
              <a:t>	</a:t>
            </a:r>
            <a:r>
              <a:rPr lang="zh-CN" altLang="en-US"/>
              <a:t>Solid State Disk简称SSD，数据直接存在闪存颗粒中，并且由主控单元记录数据存储位置和数据操作。而机械硬盘</a:t>
            </a:r>
            <a:r>
              <a:rPr lang="en-US" altLang="zh-CN"/>
              <a:t>HDD</a:t>
            </a:r>
            <a:r>
              <a:rPr lang="zh-CN" altLang="en-US"/>
              <a:t>是</a:t>
            </a:r>
            <a:r>
              <a:rPr lang="en-US" altLang="zh-CN"/>
              <a:t>电磁存储；机械硬盘在盘面上写数据、磁盘转动，机械臂移动，也是比较原始的数据读写方式</a:t>
            </a:r>
            <a:r>
              <a:rPr lang="zh-CN" altLang="en-US"/>
              <a:t>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3665" y="2934970"/>
            <a:ext cx="3286125" cy="223393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4170" y="2758440"/>
            <a:ext cx="3042920" cy="25876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699770" y="351790"/>
            <a:ext cx="1029843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	</a:t>
            </a:r>
            <a:r>
              <a:rPr lang="zh-CN" altLang="en-US"/>
              <a:t>家用</a:t>
            </a:r>
            <a:r>
              <a:rPr lang="en-US" altLang="zh-CN"/>
              <a:t>HDD</a:t>
            </a:r>
            <a:r>
              <a:rPr lang="zh-CN" altLang="en-US"/>
              <a:t>速度一般顺序读写</a:t>
            </a:r>
            <a:r>
              <a:rPr lang="en-US" altLang="zh-CN"/>
              <a:t>100MB</a:t>
            </a:r>
            <a:r>
              <a:rPr lang="zh-CN" altLang="en-US"/>
              <a:t>左右，所以使用的接口一般</a:t>
            </a:r>
            <a:r>
              <a:rPr lang="en-US" altLang="zh-CN"/>
              <a:t>sata2</a:t>
            </a:r>
            <a:r>
              <a:rPr lang="zh-CN" altLang="en-US"/>
              <a:t>就能满足，不过目前主流都是</a:t>
            </a:r>
            <a:r>
              <a:rPr lang="en-US" altLang="zh-CN"/>
              <a:t>sata3</a:t>
            </a:r>
            <a:r>
              <a:rPr lang="zh-CN" altLang="en-US"/>
              <a:t>，理论速度为</a:t>
            </a:r>
            <a:r>
              <a:rPr lang="en-US" altLang="zh-CN"/>
              <a:t>500MB</a:t>
            </a:r>
            <a:r>
              <a:rPr lang="zh-CN" altLang="en-US"/>
              <a:t>每秒左右，也只有</a:t>
            </a:r>
            <a:r>
              <a:rPr lang="en-US" altLang="zh-CN"/>
              <a:t>SSD</a:t>
            </a:r>
            <a:r>
              <a:rPr lang="zh-CN" altLang="en-US"/>
              <a:t>能跑到理论的速度。</a:t>
            </a:r>
            <a:endParaRPr lang="zh-CN" altLang="en-US"/>
          </a:p>
          <a:p>
            <a:r>
              <a:rPr lang="en-US" altLang="zh-CN"/>
              <a:t>	</a:t>
            </a:r>
            <a:r>
              <a:rPr lang="zh-CN" altLang="en-US"/>
              <a:t>想要发挥出</a:t>
            </a:r>
            <a:r>
              <a:rPr lang="en-US" altLang="zh-CN"/>
              <a:t>SSD</a:t>
            </a:r>
            <a:r>
              <a:rPr lang="zh-CN" altLang="en-US"/>
              <a:t>的性能优势主要是使用</a:t>
            </a:r>
            <a:r>
              <a:rPr lang="en-US" altLang="zh-CN"/>
              <a:t>m2</a:t>
            </a:r>
            <a:r>
              <a:rPr lang="zh-CN" altLang="en-US"/>
              <a:t>接口，通过</a:t>
            </a:r>
            <a:r>
              <a:rPr lang="en-US" altLang="zh-CN"/>
              <a:t>PCIE</a:t>
            </a:r>
            <a:r>
              <a:rPr lang="zh-CN" altLang="en-US"/>
              <a:t>总线直连</a:t>
            </a:r>
            <a:r>
              <a:rPr lang="en-US" altLang="zh-CN"/>
              <a:t>CPU</a:t>
            </a:r>
            <a:r>
              <a:rPr lang="zh-CN" altLang="en-US"/>
              <a:t>，主流是</a:t>
            </a:r>
            <a:r>
              <a:rPr lang="en-US" altLang="zh-CN"/>
              <a:t>PCIE3.0*4</a:t>
            </a:r>
            <a:r>
              <a:rPr lang="zh-CN" altLang="en-US"/>
              <a:t>可以跑满</a:t>
            </a:r>
            <a:r>
              <a:rPr lang="en-US" altLang="zh-CN"/>
              <a:t>3GB/s</a:t>
            </a:r>
            <a:r>
              <a:rPr lang="zh-CN" altLang="en-US"/>
              <a:t>的速率，理论带宽可达4GB/s。更加高端的直接是</a:t>
            </a:r>
            <a:r>
              <a:rPr lang="en-US" altLang="zh-CN"/>
              <a:t>PCI-E	</a:t>
            </a:r>
            <a:r>
              <a:rPr lang="zh-CN" altLang="en-US"/>
              <a:t>接口，如企业级固态。</a:t>
            </a:r>
            <a:endParaRPr lang="zh-CN" altLang="en-US"/>
          </a:p>
          <a:p>
            <a:r>
              <a:rPr lang="en-US" altLang="zh-CN"/>
              <a:t>	SSD</a:t>
            </a:r>
            <a:r>
              <a:rPr lang="zh-CN" altLang="en-US"/>
              <a:t>硬盘的协议大多是</a:t>
            </a:r>
            <a:r>
              <a:rPr lang="en-US" altLang="zh-CN"/>
              <a:t>NVME</a:t>
            </a:r>
            <a:r>
              <a:rPr lang="zh-CN" altLang="en-US"/>
              <a:t>（包括</a:t>
            </a:r>
            <a:r>
              <a:rPr lang="en-US" altLang="zh-CN"/>
              <a:t>iphone</a:t>
            </a:r>
            <a:r>
              <a:rPr lang="zh-CN" altLang="en-US"/>
              <a:t>的硬盘，安卓大多为</a:t>
            </a:r>
            <a:r>
              <a:rPr lang="en-US" altLang="zh-CN"/>
              <a:t>ufs</a:t>
            </a:r>
            <a:r>
              <a:rPr lang="zh-CN" altLang="en-US"/>
              <a:t>，低端更有</a:t>
            </a:r>
            <a:r>
              <a:rPr lang="en-US" altLang="zh-CN"/>
              <a:t>emmc</a:t>
            </a:r>
            <a:r>
              <a:rPr lang="zh-CN" altLang="en-US"/>
              <a:t>，低端固态也会用</a:t>
            </a:r>
            <a:r>
              <a:rPr lang="en-US" altLang="zh-CN"/>
              <a:t>ahci</a:t>
            </a:r>
            <a:r>
              <a:rPr lang="zh-CN" altLang="en-US"/>
              <a:t>协议，一般使用的是</a:t>
            </a:r>
            <a:r>
              <a:rPr lang="en-US" altLang="zh-CN"/>
              <a:t>sata</a:t>
            </a:r>
            <a:r>
              <a:rPr lang="zh-CN" altLang="en-US"/>
              <a:t>接口）。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5650" y="2445385"/>
            <a:ext cx="2103755" cy="210375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9155" y="2698115"/>
            <a:ext cx="4124325" cy="111950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3185" y="2293620"/>
            <a:ext cx="3429000" cy="192913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930910" y="544830"/>
            <a:ext cx="10284460" cy="199961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/>
              <a:t>性能指标</a:t>
            </a:r>
            <a:endParaRPr lang="zh-CN" altLang="en-US" sz="2800"/>
          </a:p>
          <a:p>
            <a:r>
              <a:rPr lang="zh-CN" altLang="en-US" sz="1600">
                <a:solidFill>
                  <a:srgbClr val="FF0000"/>
                </a:solidFill>
              </a:rPr>
              <a:t>连续读写</a:t>
            </a:r>
            <a:r>
              <a:rPr lang="zh-CN" altLang="en-US" sz="1600"/>
              <a:t>：连续读写能力是衡量硬盘在进行较长文件长度（一般不少于128KB）顺序读写操作时所具备的性能，简而言之它类似于我们进行单个大容量文件拷贝时的性能。</a:t>
            </a:r>
            <a:endParaRPr lang="zh-CN" altLang="en-US" sz="1600"/>
          </a:p>
          <a:p>
            <a:r>
              <a:rPr lang="zh-CN" altLang="en-US" sz="1600">
                <a:solidFill>
                  <a:srgbClr val="FF0000"/>
                </a:solidFill>
              </a:rPr>
              <a:t>随机读写</a:t>
            </a:r>
            <a:r>
              <a:rPr lang="zh-CN" altLang="en-US" sz="1600"/>
              <a:t>：随机读取速度的单位是IOPS，即每秒进行的IO操作次数，可认为是吞吐量指标。通俗地说，随机读写速度体现了SSD的小文件读写能力。</a:t>
            </a:r>
            <a:endParaRPr lang="zh-CN" altLang="en-US" sz="1600"/>
          </a:p>
          <a:p>
            <a:r>
              <a:rPr lang="zh-CN" altLang="en-US" sz="1600">
                <a:solidFill>
                  <a:srgbClr val="FF0000"/>
                </a:solidFill>
              </a:rPr>
              <a:t>TBW和保修期</a:t>
            </a:r>
            <a:r>
              <a:rPr lang="zh-CN" altLang="en-US" sz="1600"/>
              <a:t>：Terabytes Written（TBW），一般译作“总计写入字节数”或“写入寿命”，指的是在SSD可能故障之前可以写入SSD的总数据量。</a:t>
            </a:r>
            <a:endParaRPr lang="zh-CN" altLang="en-US" sz="1600"/>
          </a:p>
        </p:txBody>
      </p:sp>
      <p:pic>
        <p:nvPicPr>
          <p:cNvPr id="4" name="图片 3" descr="V1]$4AME80L%QL9]6D0WOBW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9825" y="2825115"/>
            <a:ext cx="2381250" cy="2206625"/>
          </a:xfrm>
          <a:prstGeom prst="rect">
            <a:avLst/>
          </a:prstGeom>
        </p:spPr>
      </p:pic>
      <p:pic>
        <p:nvPicPr>
          <p:cNvPr id="5" name="图片 4" descr="ECHNS2%ZYY4~[F[ZN`MX{X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605" y="2860675"/>
            <a:ext cx="2303780" cy="2134870"/>
          </a:xfrm>
          <a:prstGeom prst="rect">
            <a:avLst/>
          </a:prstGeom>
        </p:spPr>
      </p:pic>
      <p:pic>
        <p:nvPicPr>
          <p:cNvPr id="6" name="图片 5" descr="CC1X]K~9Q%22AY}H~$E1U%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735" y="2752725"/>
            <a:ext cx="2538730" cy="2352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871220" y="1486535"/>
            <a:ext cx="952690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600"/>
              <a:t>缓存</a:t>
            </a:r>
            <a:endParaRPr lang="zh-CN" altLang="en-US"/>
          </a:p>
          <a:p>
            <a:r>
              <a:rPr lang="zh-CN" altLang="en-US"/>
              <a:t>缓存有两种：</a:t>
            </a:r>
            <a:endParaRPr lang="zh-CN" altLang="en-US"/>
          </a:p>
          <a:p>
            <a:r>
              <a:rPr lang="zh-CN" altLang="en-US"/>
              <a:t>DDR：速度很快，跟内存条差不多</a:t>
            </a:r>
            <a:endParaRPr lang="zh-CN" altLang="en-US"/>
          </a:p>
          <a:p>
            <a:r>
              <a:rPr lang="zh-CN" altLang="en-US"/>
              <a:t>slc-cache：SLC缓存，因为大多数是TLC的硬盘，所以优先使用SLC缓存，模拟SLC颗粒进行工作。所以在传输大文件的时候，会有明显的掉速现象。</a:t>
            </a:r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609812128(1)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800" y="1673860"/>
            <a:ext cx="3345180" cy="2839720"/>
          </a:xfrm>
          <a:prstGeom prst="rect">
            <a:avLst/>
          </a:prstGeom>
        </p:spPr>
      </p:pic>
      <p:pic>
        <p:nvPicPr>
          <p:cNvPr id="3" name="图片 2" descr="W)E3@KQ9$2VK}DPEEOX57(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4985" y="1673860"/>
            <a:ext cx="3542665" cy="3006725"/>
          </a:xfrm>
          <a:prstGeom prst="rect">
            <a:avLst/>
          </a:prstGeom>
        </p:spPr>
      </p:pic>
      <p:pic>
        <p:nvPicPr>
          <p:cNvPr id="4" name="图片 3" descr="XL3V8OD)%S41DYVK@C0S1{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7855" y="1755775"/>
            <a:ext cx="3348355" cy="28422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164465" y="1932305"/>
            <a:ext cx="5182870" cy="26149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200"/>
              <a:t>颗粒</a:t>
            </a:r>
            <a:endParaRPr lang="zh-CN" altLang="en-US" sz="3200"/>
          </a:p>
          <a:p>
            <a:r>
              <a:rPr lang="en-US" altLang="zh-CN" sz="3200"/>
              <a:t>	</a:t>
            </a:r>
            <a:r>
              <a:rPr lang="en-US" altLang="zh-CN" sz="2000"/>
              <a:t>存储颗粒分为四种类型：</a:t>
            </a:r>
            <a:endParaRPr lang="en-US" altLang="zh-CN" sz="2000"/>
          </a:p>
          <a:p>
            <a:r>
              <a:rPr lang="en-US" altLang="zh-CN" sz="2000"/>
              <a:t>S(single)LC颗粒：每个存储单元只存1bit数据</a:t>
            </a:r>
            <a:endParaRPr lang="en-US" altLang="zh-CN" sz="2000"/>
          </a:p>
          <a:p>
            <a:r>
              <a:rPr lang="en-US" altLang="zh-CN" sz="2000"/>
              <a:t>M(multi)LC颗粒：每个存储单元存储2bit数据</a:t>
            </a:r>
            <a:endParaRPr lang="en-US" altLang="zh-CN" sz="2000"/>
          </a:p>
          <a:p>
            <a:r>
              <a:rPr lang="en-US" altLang="zh-CN" sz="2000"/>
              <a:t>T(triple)LC颗粒：每个存储单元存储3bit数据</a:t>
            </a:r>
            <a:endParaRPr lang="en-US" altLang="zh-CN" sz="2000"/>
          </a:p>
          <a:p>
            <a:r>
              <a:rPr lang="en-US" altLang="zh-CN" sz="2000"/>
              <a:t>Q(quad)LC颗粒：每个存储单元存储4bit数据</a:t>
            </a:r>
            <a:endParaRPr lang="en-US" altLang="zh-CN" sz="20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4365" y="1042035"/>
            <a:ext cx="5904230" cy="43954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1562735" y="1058545"/>
            <a:ext cx="2681605" cy="2584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能自主生产颗粒厂商：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intel</a:t>
            </a:r>
            <a:endParaRPr lang="zh-CN" altLang="en-US"/>
          </a:p>
          <a:p>
            <a:r>
              <a:rPr lang="zh-CN" altLang="en-US">
                <a:sym typeface="+mn-ea"/>
              </a:rPr>
              <a:t>三星</a:t>
            </a:r>
            <a:endParaRPr lang="zh-CN" altLang="en-US"/>
          </a:p>
          <a:p>
            <a:r>
              <a:rPr lang="zh-CN" altLang="en-US">
                <a:sym typeface="+mn-ea"/>
              </a:rPr>
              <a:t>镁光（英睿达）</a:t>
            </a:r>
            <a:endParaRPr lang="zh-CN" altLang="en-US"/>
          </a:p>
          <a:p>
            <a:r>
              <a:rPr lang="zh-CN" altLang="en-US">
                <a:sym typeface="+mn-ea"/>
              </a:rPr>
              <a:t>海力士</a:t>
            </a:r>
            <a:endParaRPr lang="zh-CN" altLang="en-US"/>
          </a:p>
          <a:p>
            <a:r>
              <a:rPr lang="zh-CN" altLang="en-US">
                <a:sym typeface="+mn-ea"/>
              </a:rPr>
              <a:t>东芝（铠侠）</a:t>
            </a:r>
            <a:endParaRPr lang="zh-CN" altLang="en-US"/>
          </a:p>
          <a:p>
            <a:r>
              <a:rPr lang="zh-CN" altLang="en-US">
                <a:sym typeface="+mn-ea"/>
              </a:rPr>
              <a:t>闪迪（西部数据）</a:t>
            </a:r>
            <a:endParaRPr lang="zh-CN" altLang="en-US"/>
          </a:p>
          <a:p>
            <a:r>
              <a:rPr lang="zh-CN" altLang="en-US">
                <a:sym typeface="+mn-ea"/>
              </a:rPr>
              <a:t>长江存储（致钛）</a:t>
            </a:r>
            <a:endParaRPr lang="zh-CN" altLang="en-US"/>
          </a:p>
          <a:p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116320" y="1058545"/>
            <a:ext cx="268160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不能自主生产内存颗粒的厂商，但是用的是以上厂商生产合格颗粒的品牌有：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建兴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浦科特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光威（长江存储）</a:t>
            </a:r>
            <a:endParaRPr lang="zh-CN" altLang="en-US">
              <a:sym typeface="+mn-ea"/>
            </a:endParaRPr>
          </a:p>
          <a:p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90" y="3977640"/>
            <a:ext cx="809625" cy="80962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450" y="3834765"/>
            <a:ext cx="1162050" cy="109537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1870" y="4048760"/>
            <a:ext cx="781050" cy="66675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7965" y="5594985"/>
            <a:ext cx="771525" cy="66675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7370" y="3839845"/>
            <a:ext cx="1238250" cy="108585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7395" y="3830320"/>
            <a:ext cx="1152525" cy="109537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9490" y="3830320"/>
            <a:ext cx="1200150" cy="104775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51595" y="3749040"/>
            <a:ext cx="1133475" cy="103822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29580" y="5756910"/>
            <a:ext cx="962025" cy="34290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9515" y="5696585"/>
            <a:ext cx="1656080" cy="4635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986790" y="943610"/>
            <a:ext cx="1008507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600"/>
              <a:t>主控</a:t>
            </a:r>
            <a:endParaRPr lang="zh-CN" altLang="en-US"/>
          </a:p>
          <a:p>
            <a:r>
              <a:rPr lang="en-US" altLang="zh-CN"/>
              <a:t>	</a:t>
            </a:r>
            <a:r>
              <a:rPr lang="zh-CN" altLang="en-US"/>
              <a:t>主控负责硬盘所有数据的管理，相当于仓库的管理员，负责将对应的数据（货物）编号并放到合适的存储颗粒（货架）上。</a:t>
            </a:r>
            <a:endParaRPr lang="zh-CN" altLang="en-US"/>
          </a:p>
          <a:p>
            <a:r>
              <a:rPr lang="zh-CN" altLang="en-US"/>
              <a:t>马牌（Marvell）</a:t>
            </a:r>
            <a:endParaRPr lang="zh-CN" altLang="en-US"/>
          </a:p>
          <a:p>
            <a:r>
              <a:rPr lang="zh-CN" altLang="en-US"/>
              <a:t>三星</a:t>
            </a:r>
            <a:endParaRPr lang="zh-CN" altLang="en-US"/>
          </a:p>
          <a:p>
            <a:r>
              <a:rPr lang="zh-CN" altLang="en-US"/>
              <a:t>英特尔</a:t>
            </a:r>
            <a:endParaRPr lang="zh-CN" altLang="en-US"/>
          </a:p>
          <a:p>
            <a:r>
              <a:rPr lang="zh-CN" altLang="en-US"/>
              <a:t>还有做的不错的有东芝、慧荣、群联、闪迪（分型号）、联芸（国产）</a:t>
            </a:r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91795" y="4653280"/>
            <a:ext cx="1731645" cy="90424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0660" y="4576445"/>
            <a:ext cx="2552700" cy="94297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045" y="4617720"/>
            <a:ext cx="2819400" cy="6477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4675" y="4493895"/>
            <a:ext cx="962025" cy="8953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082040" y="390525"/>
            <a:ext cx="8658225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如何选购？</a:t>
            </a:r>
            <a:endParaRPr lang="zh-CN" altLang="en-US"/>
          </a:p>
          <a:p>
            <a:r>
              <a:rPr lang="zh-CN" altLang="en-US"/>
              <a:t>品牌，容量，考虑散热（三星的一般比较热）</a:t>
            </a:r>
            <a:endParaRPr lang="zh-CN" altLang="en-US"/>
          </a:p>
          <a:p>
            <a:r>
              <a:rPr lang="zh-CN" altLang="en-US"/>
              <a:t>推荐型号：</a:t>
            </a:r>
            <a:endParaRPr lang="zh-CN" altLang="en-US"/>
          </a:p>
          <a:p>
            <a:r>
              <a:rPr lang="zh-CN" altLang="en-US"/>
              <a:t>西数蓝盘</a:t>
            </a:r>
            <a:r>
              <a:rPr lang="en-US" altLang="zh-CN"/>
              <a:t>SN550 </a:t>
            </a:r>
            <a:r>
              <a:rPr lang="zh-CN" altLang="en-US"/>
              <a:t>黑盘</a:t>
            </a:r>
            <a:r>
              <a:rPr lang="en-US" altLang="zh-CN"/>
              <a:t>SN750</a:t>
            </a:r>
            <a:endParaRPr lang="en-US" altLang="zh-CN"/>
          </a:p>
          <a:p>
            <a:r>
              <a:rPr lang="zh-CN" altLang="en-US"/>
              <a:t>铠侠</a:t>
            </a:r>
            <a:r>
              <a:rPr lang="en-US" altLang="zh-CN"/>
              <a:t>RC10 RD10</a:t>
            </a:r>
            <a:endParaRPr lang="en-US" altLang="zh-CN"/>
          </a:p>
          <a:p>
            <a:r>
              <a:rPr lang="zh-CN" altLang="en-US"/>
              <a:t>三星</a:t>
            </a:r>
            <a:r>
              <a:rPr lang="en-US" altLang="zh-CN"/>
              <a:t>EVO970 980</a:t>
            </a:r>
            <a:endParaRPr lang="en-US" altLang="zh-CN"/>
          </a:p>
          <a:p>
            <a:r>
              <a:rPr lang="zh-CN" altLang="en-US"/>
              <a:t>光威（长江存储颗粒）、致钛（</a:t>
            </a:r>
            <a:r>
              <a:rPr lang="zh-CN" altLang="en-US">
                <a:sym typeface="+mn-ea"/>
              </a:rPr>
              <a:t>长江存储品牌）</a:t>
            </a:r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7670" y="3428365"/>
            <a:ext cx="1933575" cy="124777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605" y="3739515"/>
            <a:ext cx="1991995" cy="75882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5545" y="3794760"/>
            <a:ext cx="1900555" cy="72453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6610" y="3611245"/>
            <a:ext cx="1982470" cy="88201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6910" y="3714115"/>
            <a:ext cx="1879600" cy="88582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6020" y="4676140"/>
            <a:ext cx="4343400" cy="15430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991870" y="521335"/>
            <a:ext cx="8107680" cy="1291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altLang="zh-CN"/>
              <a:t>P.S </a:t>
            </a:r>
            <a:r>
              <a:rPr lang="zh-CN" altLang="en-US"/>
              <a:t>如果要购买机械硬盘。</a:t>
            </a:r>
            <a:endParaRPr lang="zh-CN" altLang="en-US"/>
          </a:p>
          <a:p>
            <a:pPr algn="l"/>
            <a:r>
              <a:rPr lang="zh-CN" altLang="en-US" sz="1200"/>
              <a:t>购买传统垂直（</a:t>
            </a:r>
            <a:r>
              <a:rPr lang="en-US" altLang="zh-CN" sz="1200"/>
              <a:t>CMR</a:t>
            </a:r>
            <a:r>
              <a:rPr lang="zh-CN" altLang="en-US" sz="1200"/>
              <a:t>）而不是叠瓦（</a:t>
            </a:r>
            <a:r>
              <a:rPr lang="en-US" altLang="zh-CN" sz="1200"/>
              <a:t>SMR</a:t>
            </a:r>
            <a:r>
              <a:rPr lang="zh-CN" altLang="en-US" sz="1200"/>
              <a:t>）。</a:t>
            </a:r>
            <a:endParaRPr lang="zh-CN" altLang="en-US" sz="1200"/>
          </a:p>
          <a:p>
            <a:pPr algn="l"/>
            <a:r>
              <a:rPr lang="en-US" altLang="zh-CN" sz="1200"/>
              <a:t>叠瓦盘，又叫做SMR(Shingled Magneting Recording)，“叠瓦式磁记录”。</a:t>
            </a:r>
            <a:endParaRPr lang="en-US" altLang="zh-CN" sz="1200"/>
          </a:p>
          <a:p>
            <a:pPr algn="l"/>
            <a:r>
              <a:rPr lang="en-US" altLang="zh-CN" sz="1200"/>
              <a:t>顾名思义，SMR方式的写入磁道是重叠的，一片一片叠起来就像瓦片一样。</a:t>
            </a:r>
            <a:endParaRPr lang="en-US" altLang="zh-CN" sz="1200"/>
          </a:p>
          <a:p>
            <a:pPr algn="l"/>
            <a:r>
              <a:rPr lang="zh-CN" altLang="en-US" sz="1200"/>
              <a:t>特点缓存大，成本低，存储容量高。</a:t>
            </a:r>
            <a:endParaRPr lang="zh-CN" altLang="en-US" sz="1200"/>
          </a:p>
          <a:p>
            <a:pPr algn="l"/>
            <a:r>
              <a:rPr lang="zh-CN" altLang="en-US" sz="1200"/>
              <a:t>体现在产品上就是同样的存储容量，价格更便宜。但是缺点有很多：随机写入速度慢很多，磁盘寿命低，容易丢数据。</a:t>
            </a:r>
            <a:endParaRPr lang="zh-CN" altLang="en-US" sz="120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965" y="3971290"/>
            <a:ext cx="4112895" cy="132334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485" y="1997710"/>
            <a:ext cx="3446780" cy="1664335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PLACING_PICTURE_USER_VIEWPORT" val="{&quot;height&quot;:2115,&quot;width&quot;:4050}"/>
</p:tagLst>
</file>

<file path=ppt/theme/theme1.xml><?xml version="1.0" encoding="utf-8"?>
<a:theme xmlns:a="http://schemas.openxmlformats.org/drawingml/2006/main" name="1_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1310</Words>
  <Application>WPS 演示</Application>
  <PresentationFormat>宽屏</PresentationFormat>
  <Paragraphs>64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9" baseType="lpstr">
      <vt:lpstr>Arial</vt:lpstr>
      <vt:lpstr>宋体</vt:lpstr>
      <vt:lpstr>Wingdings</vt:lpstr>
      <vt:lpstr>微软雅黑</vt:lpstr>
      <vt:lpstr>Calibri Light</vt:lpstr>
      <vt:lpstr>Calibri</vt:lpstr>
      <vt:lpstr>Arial Unicode MS</vt:lpstr>
      <vt:lpstr>1_Office 主题</vt:lpstr>
      <vt:lpstr>SSD固态硬盘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pengbin</dc:creator>
  <cp:lastModifiedBy>彭斌</cp:lastModifiedBy>
  <cp:revision>13</cp:revision>
  <dcterms:created xsi:type="dcterms:W3CDTF">2021-01-04T15:24:00Z</dcterms:created>
  <dcterms:modified xsi:type="dcterms:W3CDTF">2021-01-06T03:44:35Z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2052-11.1.0.10228</vt:lpwstr>
  </property>
</Properties>
</file>